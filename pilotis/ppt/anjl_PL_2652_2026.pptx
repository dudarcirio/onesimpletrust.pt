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960120" cy="96012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03020" y="77724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5730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" y="297180"/>
            <a:ext cx="960120" cy="96012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54" y="1047034"/>
            <a:ext cx="420532" cy="420532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2370" y="1176650"/>
            <a:ext cx="161300" cy="161300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14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2ED"/>
                </a:solidFill>
                <a:latin typeface="Arial"/>
              </a:rPr>
              <a:t>pilotis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4081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9C6A"/>
                </a:solidFill>
                <a:latin typeface="Courier New"/>
              </a:rPr>
              <a:t>RIG · OS  //  PROSPECTIVA ESTRATÉGICA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2ED"/>
                </a:solidFill>
                <a:latin typeface="Arial"/>
              </a:rPr>
              <a:t>Influência é uma rede.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4F9C6A"/>
                </a:solidFill>
                <a:latin typeface="Arial"/>
              </a:rPr>
              <a:t>Trate-a como uma.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Ciência de redes, prospectiva estratégica (Godet) e teoria dos jogos aplicadas a um ato concreto.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07492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4F2ED"/>
                </a:solidFill>
                <a:latin typeface="Arial"/>
              </a:rPr>
              <a:t>PL 2652/2026  ·  Associação Nacional do Jogo e Loterias (ANJL)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8F9188"/>
                </a:solidFill>
                <a:latin typeface="Arial"/>
              </a:rPr>
              <a:t>Plano de Ação · Front-office · 07/07/2026 · confidencial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F9188"/>
                </a:solidFill>
                <a:latin typeface="Arial"/>
              </a:rPr>
              <a:t>Exemplo com dado público — posições por bloco e instituição, não inteligência sobre indivíduos.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lobby tradicional joga o jogo errado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A4A46"/>
                </a:solidFill>
                <a:latin typeface="Courier New"/>
              </a:rPr>
              <a:t>COMO O MERCADO OPERA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05456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Bilateral e transacional — um a um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163824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Rolodex de elite, não quem decide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822192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Ignora quem redige, regula e financia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480560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Opaco, frágil à regulação que vem aí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663B"/>
                </a:solidFill>
                <a:latin typeface="Courier New"/>
              </a:rPr>
              <a:t>O QUE ISSO CUSTA A ASSOCIAÇÃO NACIONAL DO JOGO E LOTERIAS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05456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Perde a ameaça real no ruído do firehose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163824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Não vê aliados latentes fora do círculo óbvio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822192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Sem priorização nem vetor de postura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480560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Difícil de auditar — passivo reputacional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A4A46"/>
                </a:solidFill>
                <a:latin typeface="Arial"/>
              </a:rPr>
              <a:t>O sistema decisório é uma rede: quem redige, quem regula, quem financia, quem faz barulho. A resposta é jogar em rede — com método e trilha auditável.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ATO EM DISPUTA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PL 2652/2026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67665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6217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92B26"/>
                </a:solidFill>
                <a:latin typeface="Arial"/>
              </a:rPr>
              <a:t>Dispõe sobre as vedações à participação de agentes públicos em mercados de previsão, visando prevenir o uso de informação privilegiada e o conflito de interesses.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Autor: Márcio Marinho   ·   Relator: a designar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91640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81051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PRIORIDADE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03911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0663B"/>
                </a:solidFill>
                <a:latin typeface="Arial"/>
              </a:rPr>
              <a:t>Alta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770632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889504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VETOR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11810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Oportunidade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849624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9684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SCORE DE RELEVÂNCIA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1970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Órgão atual: MESA · Situação: Aguardando Autorização do Despacho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Termos batidos pela lógica de interesse: mercados de previsao, vedac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Fonte: Câmara dos Deputados — dados abertos · lógica auditável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CASO ·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o cliente quer deste 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4F9C6A"/>
                </a:solidFill>
                <a:latin typeface="Courier New"/>
              </a:rPr>
              <a:t>TESE DO CLIENTE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CCC2"/>
                </a:solidFill>
                <a:latin typeface="Arial"/>
              </a:rPr>
              <a:t>Representa o setor REGULADO de apostas de quota fixa (bets), loterias e jogos online sob a Lei 14.790/2023. Interesse central: estabilidade e segurança jurídica do mercado legal, combate à concorrência ilegal, carga trib…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26440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0098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Acelerar a tramitação e ancorar o texto do PL 2652/2026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8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27024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4340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30682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Capitalizar o vetor 'Mercados de previsão'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749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527608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492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31266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Posicionar o cliente como fonte técnica de referência no 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Objetivos derivados do vetor e dos termos batidos — refináveis pelo consultor antes do scoring MACTOR.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1 · MICMAC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move o campo deste ato</a:t>
            </a:r>
          </a:p>
        </p:txBody>
      </p:sp>
      <p:pic>
        <p:nvPicPr>
          <p:cNvPr id="7" name="Picture 6" descr="tmpq37eef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600200"/>
            <a:ext cx="7498079" cy="46831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Variáveis da lógica de interesse de Associação Nacional do Jogo e Loterias: motrizes (verde-marca, ● = bate neste ato) definem os cenários; as demais respondem a elas.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GRAFO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sistema decisório é um grafo</a:t>
            </a:r>
          </a:p>
        </p:txBody>
      </p:sp>
      <p:pic>
        <p:nvPicPr>
          <p:cNvPr id="7" name="Picture 6" descr="tmp3gclugf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8229600" cy="4404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Sementes reais do ato (autor, relator, órgão) + blocos por posição declarada. O grafo completo vive na plataforma.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MACTOR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o interesse já converge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916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103120"/>
              </a:tblGrid>
              <a:tr h="47026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Ator × Objetivo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O1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O2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O3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Associação Nacional do Jogo e 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Márcio Marinho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Fazenda / SPA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do Esporte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Bloco restritivo (saúde públic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Leitura: ++ converge forte · − diverge · ? = posição a apurar (relator é o alvo da Fase 3).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C39"/>
                </a:solidFill>
                <a:latin typeface="Arial"/>
              </a:rPr>
              <a:t>O objetivo-ponte (O2) costuma ser onde o bloco divergente converge — é por ali que se constrói.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3 · SHAPLEY–SHUBIK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concentrar articulação</a:t>
            </a:r>
          </a:p>
        </p:txBody>
      </p:sp>
      <p:pic>
        <p:nvPicPr>
          <p:cNvPr id="7" name="Picture 6" descr="tmpsqn18w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691640"/>
            <a:ext cx="8778240" cy="4026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Índice de poder pivotal sobre as coalizões vencedoras — foco de energia humana por interesse, não por acesso.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4 · SMIC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Quatro futuros, uma aposta robusta</a:t>
            </a:r>
          </a:p>
        </p:txBody>
      </p:sp>
      <p:pic>
        <p:nvPicPr>
          <p:cNvPr id="7" name="Picture 6" descr="tmpz23s68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645920"/>
            <a:ext cx="8412480" cy="46704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Probabilidades derivadas das hipóteses sobre as motrizes — a estratégia deve ser boa nos dois cenários dominantes.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5 · MECHANISM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A arquitetura da jogada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468880"/>
                <a:gridCol w="1737360"/>
                <a:gridCol w="155448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Pivô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Interesse dele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Canal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Evidência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relatoria com tese vencedora e apoio técnico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manutenção do núcleo do texto e ritmo de pauta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nota técnica + reunião registrada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dados setoriais públicos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Fazenda / SPA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arrecadação e integridade do mercado regulado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convergência regulatória explícita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audiência pública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impacto fiscal/estudo de arrecadação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do Esport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pauta com entrega visível para a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requerimento de audiência + assinatura de emenda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coordenação da frente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mapa de empregos/investimento por UF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Bloco restritivo (saúde públ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resultado no ponto em que converge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convergir onde há interesse comum — não confrontar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interlocução técnica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ponto de convergência documentado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6C39"/>
                </a:solidFill>
                <a:latin typeface="Arial"/>
              </a:rPr>
              <a:t>Nada é favor. É coincidência de interesse tornada explícita — inclusive com quem diverge.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Cada ask com evidência pública e canal formal — a trilha auditável é parte do produto.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ÉTICA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F9C6A"/>
                </a:solidFill>
                <a:latin typeface="Courier New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9188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ED"/>
                </a:solidFill>
                <a:latin typeface="Arial"/>
              </a:rPr>
              <a:t>Por construção, fora da zona cinzenta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9188"/>
                </a:solidFill>
                <a:latin typeface="Courier New"/>
              </a:rPr>
              <a:t>TRÁFICO DE INFLUÊNCIA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78608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Transação bilateral oculta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255264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Vende acesso e favor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931920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Perfil privado de pessoas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608576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Não sobrevive a auditoria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O MÉTODO PILOTIS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78608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Jogo multiplayer, visível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255264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Só dado público: variáveis, posições, payoffs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931920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Posições por bloco, nunca perfil privado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608576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Trilha auditável — pronta para a regulação do lobby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FCCC2"/>
                </a:solidFill>
                <a:latin typeface="Arial"/>
              </a:rPr>
              <a:t>A interação registrada deixa de ser só CRM e vira prova de conformidade.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85800"/>
            <a:ext cx="868680" cy="8686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58500" y="68580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112014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10424160" y="251460"/>
            <a:ext cx="868680" cy="86868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68259" y="929899"/>
            <a:ext cx="380481" cy="380481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5531" y="1047171"/>
            <a:ext cx="145938" cy="145938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4F2ED"/>
                </a:solidFill>
                <a:latin typeface="Arial"/>
              </a:rPr>
              <a:t>Qual o caminho de menor energia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4F9C6A"/>
                </a:solidFill>
                <a:latin typeface="Arial"/>
              </a:rPr>
              <a:t>até a decisão?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00984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O grafo decisório como ativo que se valoriza a cada mandato.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67912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13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Estratégia derivada, não intuída — e auditável de ponta a ponta.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34840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7997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Advocacy transparente, pronto para a regulação que vem aí.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21208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F4F2ED"/>
                </a:solidFill>
                <a:latin typeface="Arial"/>
              </a:rPr>
              <a:t>Próximo passo: validar escores MACTOR/SMIC deste deck no gate do consultor · PL 2652/2026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8F9188"/>
                </a:solidFill>
                <a:latin typeface="Courier New"/>
              </a:rPr>
              <a:t>pilotis · rig-os — one simple trust / noise.os · eduardo.arcirio@onesimpletrust.pt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