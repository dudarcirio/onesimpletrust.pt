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960120" cy="96012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03020" y="777240"/>
            <a:ext cx="480060" cy="48006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257300"/>
            <a:ext cx="480060" cy="48006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822960" y="297180"/>
            <a:ext cx="960120" cy="960120"/>
          </a:xfrm>
          <a:prstGeom prst="pie">
            <a:avLst>
              <a:gd name="adj1" fmla="val 9000000"/>
              <a:gd name="adj2" fmla="val 18000000"/>
            </a:avLst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2754" y="1047034"/>
            <a:ext cx="420532" cy="420532"/>
          </a:xfrm>
          <a:prstGeom prst="ellipse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22370" y="1176650"/>
            <a:ext cx="161300" cy="161300"/>
          </a:xfrm>
          <a:prstGeom prst="ellipse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9144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F2ED"/>
                </a:solidFill>
                <a:latin typeface="Arial"/>
              </a:rPr>
              <a:t>pilotis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8" y="14081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F9C6A"/>
                </a:solidFill>
                <a:latin typeface="Courier New"/>
              </a:rPr>
              <a:t>RIG · OS  //  PROSPECTIVA ESTRATÉGICA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4F2ED"/>
                </a:solidFill>
                <a:latin typeface="Arial"/>
              </a:rPr>
              <a:t>Influência é uma rede.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4F9C6A"/>
                </a:solidFill>
                <a:latin typeface="Arial"/>
              </a:rPr>
              <a:t>Trate-a como uma.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43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Ciência de redes, prospectiva estratégica (Godet) e teoria dos jogos aplicadas a um ato concreto.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074920"/>
            <a:ext cx="10515600" cy="18288"/>
          </a:xfrm>
          <a:prstGeom prst="rect">
            <a:avLst/>
          </a:prstGeom>
          <a:solidFill>
            <a:srgbClr val="33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3035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F4F2ED"/>
                </a:solidFill>
                <a:latin typeface="Arial"/>
              </a:rPr>
              <a:t>PL 533/2019  ·  Expedia Group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8F9188"/>
                </a:solidFill>
                <a:latin typeface="Arial"/>
              </a:rPr>
              <a:t>Plano de Ação · Front-office · 07/07/2026 · confidencial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8F9188"/>
                </a:solidFill>
                <a:latin typeface="Arial"/>
              </a:rPr>
              <a:t>Exemplo com dado público — posições por bloco e instituição, não inteligência sobre indivíduos.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lobby tradicional joga o jogo errado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A4A46"/>
                </a:solidFill>
                <a:latin typeface="Courier New"/>
              </a:rPr>
              <a:t>COMO O MERCADO OPERA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2505456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244144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Bilateral e transacional — um a um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3163824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9888" y="309981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Rolodex de elite, não quem decide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3822192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3758184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Ignora quem redige, regula e financia</a:t>
            </a:r>
          </a:p>
        </p:txBody>
      </p:sp>
      <p:sp>
        <p:nvSpPr>
          <p:cNvPr id="15" name="Oval 14"/>
          <p:cNvSpPr/>
          <p:nvPr/>
        </p:nvSpPr>
        <p:spPr>
          <a:xfrm>
            <a:off x="1143000" y="4480560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89888" y="441655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Opaco, frágil à regulação que vem aí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196596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0663B"/>
                </a:solidFill>
                <a:latin typeface="Courier New"/>
              </a:rPr>
              <a:t>O QUE ISSO CUSTA A EXPEDIA GROUP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2505456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244144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Perde a ameaça real no ruído do firehose</a:t>
            </a:r>
          </a:p>
        </p:txBody>
      </p:sp>
      <p:sp>
        <p:nvSpPr>
          <p:cNvPr id="21" name="Oval 20"/>
          <p:cNvSpPr/>
          <p:nvPr/>
        </p:nvSpPr>
        <p:spPr>
          <a:xfrm>
            <a:off x="6720840" y="3163824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309981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Não vê aliados latentes fora do círculo óbvio</a:t>
            </a:r>
          </a:p>
        </p:txBody>
      </p:sp>
      <p:sp>
        <p:nvSpPr>
          <p:cNvPr id="23" name="Oval 22"/>
          <p:cNvSpPr/>
          <p:nvPr/>
        </p:nvSpPr>
        <p:spPr>
          <a:xfrm>
            <a:off x="6720840" y="3822192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3758184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Sem priorização nem vetor de postura</a:t>
            </a:r>
          </a:p>
        </p:txBody>
      </p:sp>
      <p:sp>
        <p:nvSpPr>
          <p:cNvPr id="25" name="Oval 24"/>
          <p:cNvSpPr/>
          <p:nvPr/>
        </p:nvSpPr>
        <p:spPr>
          <a:xfrm>
            <a:off x="6720840" y="4480560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7728" y="441655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Difícil de auditar — passivo reputacional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A4A46"/>
                </a:solidFill>
                <a:latin typeface="Arial"/>
              </a:rPr>
              <a:t>O sistema decisório é uma rede: quem redige, quem regula, quem financia, quem faz barulho. A resposta é jogar em rede — com método e trilha auditável.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O ATO EM DISPUTA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PL 533/2019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67665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62179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92B26"/>
                </a:solidFill>
                <a:latin typeface="Arial"/>
              </a:rPr>
              <a:t>Acrescenta o parágrafo único ao artigo 17 e § 3º ao artigo 491, ambos do Código de Processo Civil.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A4A46"/>
                </a:solidFill>
                <a:latin typeface="Arial"/>
              </a:rPr>
              <a:t>Autor: Júlio Delgado (PV/MG)   ·   Relator: Vinicius Carvalho (PL/SP)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691640"/>
            <a:ext cx="3383280" cy="932688"/>
          </a:xfrm>
          <a:prstGeom prst="roundRect">
            <a:avLst>
              <a:gd name="adj" fmla="val 8000"/>
            </a:avLst>
          </a:prstGeom>
          <a:solidFill>
            <a:srgbClr val="E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81051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A4A46"/>
                </a:solidFill>
                <a:latin typeface="Courier New"/>
              </a:rPr>
              <a:t>PRIORIDADE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039112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C0663B"/>
                </a:solidFill>
                <a:latin typeface="Arial"/>
              </a:rPr>
              <a:t>Alta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770632"/>
            <a:ext cx="3383280" cy="932688"/>
          </a:xfrm>
          <a:prstGeom prst="roundRect">
            <a:avLst>
              <a:gd name="adj" fmla="val 8000"/>
            </a:avLst>
          </a:prstGeom>
          <a:solidFill>
            <a:srgbClr val="E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2889504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A4A46"/>
                </a:solidFill>
                <a:latin typeface="Courier New"/>
              </a:rPr>
              <a:t>VETOR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3118104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B6C39"/>
                </a:solidFill>
                <a:latin typeface="Arial"/>
              </a:rPr>
              <a:t>Oportunidade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3849624"/>
            <a:ext cx="3383280" cy="932688"/>
          </a:xfrm>
          <a:prstGeom prst="roundRect">
            <a:avLst>
              <a:gd name="adj" fmla="val 8000"/>
            </a:avLst>
          </a:prstGeom>
          <a:solidFill>
            <a:srgbClr val="E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39684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A4A46"/>
                </a:solidFill>
                <a:latin typeface="Courier New"/>
              </a:rPr>
              <a:t>TERMÔMETRO (RELATÓRIO)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4197096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B6C39"/>
                </a:solidFill>
                <a:latin typeface="Arial"/>
              </a:rPr>
              <a:t>74%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A4A46"/>
                </a:solidFill>
                <a:latin typeface="Arial"/>
              </a:rPr>
              <a:t>Órgão atual: CDC · Situação: PRONTA PARA PAUTA NA COMISSÃO DE DEFESA DO CONSUMIDOR (CDC)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Termos batidos pela lógica de interesse: classificação do consultor (importado do relatório do cliente)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4A4A46"/>
                </a:solidFill>
                <a:latin typeface="Arial"/>
              </a:rPr>
              <a:t>Fonte: Câmara dos Deputados — dados abertos · lógica auditável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O CASO · 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que o cliente quer deste ato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10515600" cy="1051560"/>
          </a:xfrm>
          <a:prstGeom prst="roundRect">
            <a:avLst>
              <a:gd name="adj" fmla="val 8000"/>
            </a:avLst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4F9C6A"/>
                </a:solidFill>
                <a:latin typeface="Courier New"/>
              </a:rPr>
              <a:t>TESE DO CLIENTE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CFCCC2"/>
                </a:solidFill>
                <a:latin typeface="Arial"/>
              </a:rPr>
              <a:t>Plataforma global de viagens (Expedia, Hoteis.com, Vrbo). Interesse central: marco regulatório equilibrado para aluguel por temporada em plataformas, tributação proporcional de serviços digitais, regras de consumo em via…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06324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3264408"/>
            <a:ext cx="475488" cy="475488"/>
          </a:xfrm>
          <a:prstGeom prst="ellipse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33756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O1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30098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92B26"/>
                </a:solidFill>
                <a:latin typeface="Arial"/>
              </a:rPr>
              <a:t>Acelerar a tramitação e ancorar o texto do PL 533/2019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6908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4270248"/>
            <a:ext cx="475488" cy="475488"/>
          </a:xfrm>
          <a:prstGeom prst="ellipse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4340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O2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30682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92B26"/>
                </a:solidFill>
                <a:latin typeface="Arial"/>
              </a:rPr>
              <a:t>Consolidar posição no campo temático do ato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07492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5276088"/>
            <a:ext cx="475488" cy="475488"/>
          </a:xfrm>
          <a:prstGeom prst="ellipse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34924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O3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31266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92B26"/>
                </a:solidFill>
                <a:latin typeface="Arial"/>
              </a:rPr>
              <a:t>Posicionar o cliente como fonte técnica de referência no tema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4A46"/>
                </a:solidFill>
                <a:latin typeface="Arial"/>
              </a:rPr>
              <a:t>Objetivos derivados do vetor e dos termos batidos — refináveis pelo consultor antes do scoring MACTOR.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1 · MICMAC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que move o campo deste ato</a:t>
            </a:r>
          </a:p>
        </p:txBody>
      </p:sp>
      <p:pic>
        <p:nvPicPr>
          <p:cNvPr id="7" name="Picture 6" descr="tmpsv0t0bk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600200"/>
            <a:ext cx="7498079" cy="46831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Variáveis da lógica de interesse de Expedia Group: motrizes (verde-marca, ● = bate neste ato) definem os cenários; as demais respondem a elas.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2 · GRAFO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sistema decisório é um grafo</a:t>
            </a:r>
          </a:p>
        </p:txBody>
      </p:sp>
      <p:pic>
        <p:nvPicPr>
          <p:cNvPr id="7" name="Picture 6" descr="tmph20d813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645920"/>
            <a:ext cx="8229600" cy="44045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Sementes reais do ato (autor, relator, órgão) + blocos por posição declarada. O grafo completo vive na plataforma.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2 · MACTOR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Onde o interesse já converge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9164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103120"/>
                <a:gridCol w="2103120"/>
                <a:gridCol w="2103120"/>
              </a:tblGrid>
              <a:tr h="47026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Ator × Objetivo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O1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O2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O3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Expedia Group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Júlio Delgado (PV/MG)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Vinicius Carvalho (PL/SP)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MTur / Senacon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Frente Parlamentar do Turismo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Bloco hoteleiro-condominial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−−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−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A4A46"/>
                </a:solidFill>
                <a:latin typeface="Arial"/>
              </a:rPr>
              <a:t>Leitura: ++ converge forte · − diverge · ? = posição a apurar (relator é o alvo da Fase 3).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1B6C39"/>
                </a:solidFill>
                <a:latin typeface="Arial"/>
              </a:rPr>
              <a:t>O objetivo-ponte (O2) costuma ser onde o bloco divergente converge — é por ali que se constrói.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3 · SHAPLEY–SHUBIK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Onde concentrar articulação</a:t>
            </a:r>
          </a:p>
        </p:txBody>
      </p:sp>
      <p:pic>
        <p:nvPicPr>
          <p:cNvPr id="7" name="Picture 6" descr="tmpk3x8jcx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691640"/>
            <a:ext cx="8778240" cy="40372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Índice de poder pivotal sobre as coalizões vencedoras — foco de energia humana por interesse, não por acesso.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4 · SMIC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Quatro futuros, uma aposta robusta</a:t>
            </a:r>
          </a:p>
        </p:txBody>
      </p:sp>
      <p:pic>
        <p:nvPicPr>
          <p:cNvPr id="7" name="Picture 6" descr="tmpgj97uv8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645920"/>
            <a:ext cx="8412480" cy="46704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Probabilidades derivadas das hipóteses sobre as motrizes — a estratégia deve ser boa nos dois cenários dominantes.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5 · MECHANISM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A arquitetura da jogada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45920"/>
          <a:ext cx="10515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468880"/>
                <a:gridCol w="1737360"/>
                <a:gridCol w="155448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Pivô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Interesse dele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Ask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Canal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Evidência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Vinicius Carvalho (PL/SP)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relatoria com tese vencedora e apoio técnico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manutenção do núcleo do texto e ritmo de pauta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nota técnica + reunião registrada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dados setoriais públicos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MTur / Senacon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fomento ao turismo com proteção ao consumidor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convergência regulatória explícita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audiência pública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impacto fiscal/estudo de arrecadação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Frente Parlamentar do Turism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pauta com entrega visível para a base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requerimento de audiência + assinatura de emenda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coordenação da frente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mapa de empregos/investimento por UF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Bloco hoteleiro-condominial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resultado no ponto em que converge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convergir onde há interesse comum — não confrontar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interlocução técnica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ponto de convergência documentado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1B6C39"/>
                </a:solidFill>
                <a:latin typeface="Arial"/>
              </a:rPr>
              <a:t>Nada é favor. É coincidência de interesse tornada explícita — inclusive com quem diverge.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4A46"/>
                </a:solidFill>
                <a:latin typeface="Arial"/>
              </a:rPr>
              <a:t>Cada ask com evidência pública e canal formal — a trilha auditável é parte do produto.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9C6A"/>
                </a:solidFill>
                <a:latin typeface="Courier New"/>
              </a:rPr>
              <a:t>ÉTICA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F9C6A"/>
                </a:solidFill>
                <a:latin typeface="Courier New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9188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4F2ED"/>
                </a:solidFill>
                <a:latin typeface="Arial"/>
              </a:rPr>
              <a:t>Por construção, fora da zona cinzenta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323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116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F9188"/>
                </a:solidFill>
                <a:latin typeface="Courier New"/>
              </a:rPr>
              <a:t>TRÁFICO DE INFLUÊNCIA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2578608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251460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Transação bilateral oculta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3255264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9888" y="319125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Vende acesso e favor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3931920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386791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Perfil privado de pessoas</a:t>
            </a:r>
          </a:p>
        </p:txBody>
      </p:sp>
      <p:sp>
        <p:nvSpPr>
          <p:cNvPr id="15" name="Oval 14"/>
          <p:cNvSpPr/>
          <p:nvPr/>
        </p:nvSpPr>
        <p:spPr>
          <a:xfrm>
            <a:off x="1143000" y="4608576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89888" y="454456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Não sobrevive a auditoria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73736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323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0116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9C6A"/>
                </a:solidFill>
                <a:latin typeface="Courier New"/>
              </a:rPr>
              <a:t>O MÉTODO PILOTIS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2578608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251460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Jogo multiplayer, visível</a:t>
            </a:r>
          </a:p>
        </p:txBody>
      </p:sp>
      <p:sp>
        <p:nvSpPr>
          <p:cNvPr id="21" name="Oval 20"/>
          <p:cNvSpPr/>
          <p:nvPr/>
        </p:nvSpPr>
        <p:spPr>
          <a:xfrm>
            <a:off x="6720840" y="3255264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319125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Só dado público: variáveis, posições, payoffs</a:t>
            </a:r>
          </a:p>
        </p:txBody>
      </p:sp>
      <p:sp>
        <p:nvSpPr>
          <p:cNvPr id="23" name="Oval 22"/>
          <p:cNvSpPr/>
          <p:nvPr/>
        </p:nvSpPr>
        <p:spPr>
          <a:xfrm>
            <a:off x="6720840" y="3931920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386791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Posições por bloco, nunca perfil privado</a:t>
            </a:r>
          </a:p>
        </p:txBody>
      </p:sp>
      <p:sp>
        <p:nvSpPr>
          <p:cNvPr id="25" name="Oval 24"/>
          <p:cNvSpPr/>
          <p:nvPr/>
        </p:nvSpPr>
        <p:spPr>
          <a:xfrm>
            <a:off x="6720840" y="4608576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7728" y="454456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Trilha auditável — pronta para a regulação do lobby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FCCC2"/>
                </a:solidFill>
                <a:latin typeface="Arial"/>
              </a:rPr>
              <a:t>A interação registrada deixa de ser só CRM e vira prova de conformidade.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24160" y="685800"/>
            <a:ext cx="868680" cy="86868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58500" y="685800"/>
            <a:ext cx="434340" cy="43434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424160" y="1120140"/>
            <a:ext cx="434340" cy="43434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10424160" y="251460"/>
            <a:ext cx="868680" cy="868680"/>
          </a:xfrm>
          <a:prstGeom prst="pie">
            <a:avLst>
              <a:gd name="adj1" fmla="val 9000000"/>
              <a:gd name="adj2" fmla="val 18000000"/>
            </a:avLst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68259" y="929899"/>
            <a:ext cx="380481" cy="380481"/>
          </a:xfrm>
          <a:prstGeom prst="ellipse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85531" y="1047171"/>
            <a:ext cx="145938" cy="145938"/>
          </a:xfrm>
          <a:prstGeom prst="ellipse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4F2ED"/>
                </a:solidFill>
                <a:latin typeface="Arial"/>
              </a:rPr>
              <a:t>Qual o caminho de menor energia</a:t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4F9C6A"/>
                </a:solidFill>
                <a:latin typeface="Arial"/>
              </a:rPr>
              <a:t>até a decisão?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300984"/>
            <a:ext cx="109728" cy="109728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2461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O grafo decisório como ativo que se valoriza a cada mandato.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867912"/>
            <a:ext cx="109728" cy="109728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8130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Estratégia derivada, não intuída — e auditável de ponta a ponta.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434840"/>
            <a:ext cx="109728" cy="109728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379976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Advocacy transparente, pronto para a regulação que vem aí.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212080"/>
            <a:ext cx="10515600" cy="18288"/>
          </a:xfrm>
          <a:prstGeom prst="rect">
            <a:avLst/>
          </a:prstGeom>
          <a:solidFill>
            <a:srgbClr val="33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F4F2ED"/>
                </a:solidFill>
                <a:latin typeface="Arial"/>
              </a:rPr>
              <a:t>Próximo passo: validar escores MACTOR/SMIC deste deck no gate do consultor · PL 533/2019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8F9188"/>
                </a:solidFill>
                <a:latin typeface="Courier New"/>
              </a:rPr>
              <a:t>pilotis · rig-os — one simple trust / noise.os · eduardo.arcirio@onesimpletrust.pt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