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960120" cy="96012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03020" y="77724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57300"/>
            <a:ext cx="480060" cy="48006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" y="297180"/>
            <a:ext cx="960120" cy="96012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54" y="1047034"/>
            <a:ext cx="420532" cy="420532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2370" y="1176650"/>
            <a:ext cx="161300" cy="161300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914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4F2ED"/>
                </a:solidFill>
                <a:latin typeface="Arial"/>
              </a:rPr>
              <a:t>pilotis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40817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9C6A"/>
                </a:solidFill>
                <a:latin typeface="Courier New"/>
              </a:rPr>
              <a:t>RIG · OS  //  PROSPECTIVA ESTRATÉGICA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4F2ED"/>
                </a:solidFill>
                <a:latin typeface="Arial"/>
              </a:rPr>
              <a:t>Influência é uma rede.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4F9C6A"/>
                </a:solidFill>
                <a:latin typeface="Arial"/>
              </a:rPr>
              <a:t>Trate-a como uma.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Ciência de redes, prospectiva estratégica (Godet) e teoria dos jogos aplicadas a um ato concreto.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07492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4F2ED"/>
                </a:solidFill>
                <a:latin typeface="Arial"/>
              </a:rPr>
              <a:t>PL 2166/2026  ·  Vale S.A.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8F9188"/>
                </a:solidFill>
                <a:latin typeface="Arial"/>
              </a:rPr>
              <a:t>Plano de Ação · Front-office · 07/07/2026 · confidencial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F9188"/>
                </a:solidFill>
                <a:latin typeface="Arial"/>
              </a:rPr>
              <a:t>Exemplo com dado público — posições por bloco e instituição, não inteligência sobre indivíduos.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lobby tradicional joga o jogo errado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A4A46"/>
                </a:solidFill>
                <a:latin typeface="Courier New"/>
              </a:rPr>
              <a:t>COMO O MERCADO OPERA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05456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Bilateral e transacional — um a um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63824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Rolodex de elite, não quem decide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2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Ignora quem redige, regula e financia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80560"/>
            <a:ext cx="91440" cy="91440"/>
          </a:xfrm>
          <a:prstGeom prst="ellipse">
            <a:avLst/>
          </a:prstGeom>
          <a:solidFill>
            <a:srgbClr val="4A4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Opaco, frágil à regulação que vem aí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6596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663B"/>
                </a:solidFill>
                <a:latin typeface="Courier New"/>
              </a:rPr>
              <a:t>O QUE ISSO CUSTA A VALE S.A.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05456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44144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Perde a ameaça real no ruído do firehose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63824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09981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Não vê aliados latentes fora do círculo óbvio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822192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7581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Sem priorização nem vetor de postura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480560"/>
            <a:ext cx="91440" cy="91440"/>
          </a:xfrm>
          <a:prstGeom prst="ellipse">
            <a:avLst/>
          </a:prstGeom>
          <a:solidFill>
            <a:srgbClr val="C06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41655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92B26"/>
                </a:solidFill>
                <a:latin typeface="Arial"/>
              </a:rPr>
              <a:t>Difícil de auditar — passivo reputacional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4A4A46"/>
                </a:solidFill>
                <a:latin typeface="Arial"/>
              </a:rPr>
              <a:t>O sistema decisório é uma rede: quem redige, quem regula, quem financia, quem faz barulho. A resposta é jogar em rede — com método e trilha auditável.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ATO EM DISPUTA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PL 2166/2026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67665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6217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92B26"/>
                </a:solidFill>
                <a:latin typeface="Arial"/>
              </a:rPr>
              <a:t>Dispõe sobre critérios para o enquadramento de minerais estratégicos no âmbito da Política Nacional de Minerais Críticos e Estratégicos e dá outras providências.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Autor: Evair Vieira de Melo   ·   Relator: a designar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91640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81051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PRIORIDADE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39112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0663B"/>
                </a:solidFill>
                <a:latin typeface="Arial"/>
              </a:rPr>
              <a:t>Alta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70632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889504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VETOR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181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Oportunidade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3849624"/>
            <a:ext cx="3383280" cy="932688"/>
          </a:xfrm>
          <a:prstGeom prst="roundRect">
            <a:avLst>
              <a:gd name="adj" fmla="val 8000"/>
            </a:avLst>
          </a:prstGeom>
          <a:solidFill>
            <a:srgbClr val="E7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9684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A4A46"/>
                </a:solidFill>
                <a:latin typeface="Courier New"/>
              </a:rPr>
              <a:t>SCORE DE RELEVÂNCIA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197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B6C39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Órgão atual: CREDN · Situação: Aguardando Designação de Relator(a)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Termos batidos pela lógica de interesse: minerais criticos, minerais estrategicos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Fonte: Câmara dos Deputados — dados abertos · lógica auditável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O CASO ·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o cliente quer deste ato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8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4F9C6A"/>
                </a:solidFill>
                <a:latin typeface="Courier New"/>
              </a:rPr>
              <a:t>TESE DO CLIENTE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CFCCC2"/>
                </a:solidFill>
                <a:latin typeface="Arial"/>
              </a:rPr>
              <a:t>Mineradora global com operações de ferro, níquel e cobre, ferrovias e portos próprios. Interesse central: segurança jurídica do novo marco do licenciamento ambiental (LGLA), regimes especiais para minerais estratégicos 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326440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0098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Acelerar a tramitação e ancorar o texto do PL 2166/2026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427024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30682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Capitalizar o vetor 'Minerais estratégicos / transição'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5276088"/>
            <a:ext cx="475488" cy="475488"/>
          </a:xfrm>
          <a:prstGeom prst="ellipse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O3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312664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92B26"/>
                </a:solidFill>
                <a:latin typeface="Arial"/>
              </a:rPr>
              <a:t>Posicionar o cliente como fonte técnica de referência no tema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A4A46"/>
                </a:solidFill>
                <a:latin typeface="Arial"/>
              </a:rPr>
              <a:t>Objetivos derivados do vetor e dos termos batidos — refináveis pelo consultor antes do scoring MACTOR.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1 · MICMAC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que move o campo deste ato</a:t>
            </a:r>
          </a:p>
        </p:txBody>
      </p:sp>
      <p:pic>
        <p:nvPicPr>
          <p:cNvPr id="7" name="Picture 6" descr="tmpjhe_nnz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600200"/>
            <a:ext cx="7498079" cy="46831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Variáveis da lógica de interesse de Vale S.A.: motrizes (verde-marca, ● = bate neste ato) definem os cenários; as demais respondem a 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GRAFO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 sistema decisório é um grafo</a:t>
            </a:r>
          </a:p>
        </p:txBody>
      </p:sp>
      <p:pic>
        <p:nvPicPr>
          <p:cNvPr id="7" name="Picture 6" descr="tmpymn1ogw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45920"/>
            <a:ext cx="8229600" cy="4404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Sementes reais do ato (autor, relator, órgão) + blocos por posição declarada. O grafo completo vive na plataforma.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2 · MACTOR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o interesse já converge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103120"/>
              </a:tblGrid>
              <a:tr h="47026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Ator × Objetivo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O1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O2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4F2ED"/>
                          </a:solidFill>
                          <a:latin typeface="Arial"/>
                        </a:rPr>
                        <a:t>O3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Vale S.A.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Evair Vieira de Melo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MMA / IBAMA / ANM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da Mineraçã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+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Bloco socioambiental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−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92B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A4A46"/>
                </a:solidFill>
                <a:latin typeface="Arial"/>
              </a:rPr>
              <a:t>Leitura: ++ converge forte · − diverge · ? = posição a apurar (relator é o alvo da Fase 3).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B6C39"/>
                </a:solidFill>
                <a:latin typeface="Arial"/>
              </a:rPr>
              <a:t>O objetivo-ponte (O2) costuma ser onde o bloco divergente converge — é por ali que se constrói.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3 · SHAPLEY–SHUBIK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Onde concentrar articulação</a:t>
            </a:r>
          </a:p>
        </p:txBody>
      </p:sp>
      <p:pic>
        <p:nvPicPr>
          <p:cNvPr id="7" name="Picture 6" descr="tmp2cc4cd4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691640"/>
            <a:ext cx="8778240" cy="40263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Índice de poder pivotal sobre as coalizões vencedoras — foco de energia humana por interesse, não por acesso.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4 · SMIC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Quatro futuros, uma aposta robusta</a:t>
            </a:r>
          </a:p>
        </p:txBody>
      </p:sp>
      <p:pic>
        <p:nvPicPr>
          <p:cNvPr id="7" name="Picture 6" descr="tmp0cb4rw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645920"/>
            <a:ext cx="8412480" cy="4670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A4A46"/>
                </a:solidFill>
                <a:latin typeface="Arial"/>
              </a:rPr>
              <a:t>Probabilidades derivadas das hipóteses sobre as motrizes — a estratégia deve ser boa nos dois cenários dominantes.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B6C39"/>
                </a:solidFill>
                <a:latin typeface="Courier New"/>
              </a:rPr>
              <a:t>FASE 5 · MECHANISM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A4A46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A4A46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92B26"/>
                </a:solidFill>
                <a:latin typeface="Arial"/>
              </a:rPr>
              <a:t>A arquitetura da jogada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468880"/>
                <a:gridCol w="1737360"/>
                <a:gridCol w="15544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Pivô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Interesse dele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Ask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Canal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4F2ED"/>
                          </a:solidFill>
                          <a:latin typeface="Arial"/>
                        </a:rPr>
                        <a:t>Evidência</a:t>
                      </a:r>
                    </a:p>
                  </a:txBody>
                  <a:tcPr marL="73152" marR="73152" marT="36576" marB="36576">
                    <a:solidFill>
                      <a:srgbClr val="292B26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 (a designar)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relatoria com tese vencedora e apoio técnico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manutenção do núcleo do texto e ritmo de pauta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nota técnica + reunião registrada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dados setoriais públicos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MMA / IBAMA / ANM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licenciamento tempestivo com segurança jurídica 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convergência regulatória explícita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audiência pública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impacto fiscal/estudo de arrecadação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Frente Parlamentar da Minera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pauta com entrega visível para a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requerimento de audiência + assinatura de emenda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coordenação da frente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mapa de empregos/investimento por UF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Bloco socioambiental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resultado no ponto em que converge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convergir onde há interesse comum — não confrontar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interlocução técnica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92B26"/>
                          </a:solidFill>
                          <a:latin typeface="Arial"/>
                        </a:rPr>
                        <a:t>ponto de convergência documentado</a:t>
                      </a:r>
                    </a:p>
                  </a:txBody>
                  <a:tcPr marL="73152" marR="73152" marT="36576" marB="36576">
                    <a:solidFill>
                      <a:srgbClr val="E7E3D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B6C39"/>
                </a:solidFill>
                <a:latin typeface="Arial"/>
              </a:rPr>
              <a:t>Nada é favor. É coincidência de interesse tornada explícita — inclusive com quem diverge.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A46"/>
                </a:solidFill>
                <a:latin typeface="Arial"/>
              </a:rPr>
              <a:t>Cada ask com evidência pública e canal formal — a trilha auditável é parte do produto.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ÉTICA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4F9C6A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F9188"/>
                </a:solidFill>
                <a:latin typeface="Courier New"/>
              </a:rPr>
              <a:t>pilotis · rig-os — one simple trust / noise.os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F2ED"/>
                </a:solidFill>
                <a:latin typeface="Arial"/>
              </a:rPr>
              <a:t>Por construção, fora da zona cinzenta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F9188"/>
                </a:solidFill>
                <a:latin typeface="Courier New"/>
              </a:rPr>
              <a:t>TRÁFICO DE INFLUÊNCIA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578608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Transação bilateral oculta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55264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Vende acesso e favor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931920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Perfil privado de pessoas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608576"/>
            <a:ext cx="91440" cy="91440"/>
          </a:xfrm>
          <a:prstGeom prst="ellipse">
            <a:avLst/>
          </a:prstGeom>
          <a:solidFill>
            <a:srgbClr val="8F9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Não sobrevive a auditoria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737360"/>
            <a:ext cx="4937760" cy="3566160"/>
          </a:xfrm>
          <a:prstGeom prst="roundRect">
            <a:avLst>
              <a:gd name="adj" fmla="val 8000"/>
            </a:avLst>
          </a:prstGeom>
          <a:solidFill>
            <a:srgbClr val="323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1168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F9C6A"/>
                </a:solidFill>
                <a:latin typeface="Courier New"/>
              </a:rPr>
              <a:t>O MÉTODO PILOTIS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2578608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251460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Jogo multiplayer, visível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255264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31912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Só dado público: variáveis, posições, payoffs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3931920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7728" y="3867912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Posições por bloco, nunca perfil privado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608576"/>
            <a:ext cx="91440" cy="91440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454456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4F2ED"/>
                </a:solidFill>
                <a:latin typeface="Arial"/>
              </a:rPr>
              <a:t>Trilha auditável — pronta para a regulação do lobby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FCCC2"/>
                </a:solidFill>
                <a:latin typeface="Arial"/>
              </a:rPr>
              <a:t>A interação registrada deixa de ser só CRM e vira prova de conformidade.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685800"/>
            <a:ext cx="868680" cy="868680"/>
          </a:xfrm>
          <a:prstGeom prst="rect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58500" y="68580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1120140"/>
            <a:ext cx="434340" cy="434340"/>
          </a:xfrm>
          <a:prstGeom prst="rect">
            <a:avLst/>
          </a:prstGeom>
          <a:solidFill>
            <a:srgbClr val="1B6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10424160" y="251460"/>
            <a:ext cx="868680" cy="868680"/>
          </a:xfrm>
          <a:prstGeom prst="pie">
            <a:avLst>
              <a:gd name="adj1" fmla="val 9000000"/>
              <a:gd name="adj2" fmla="val 18000000"/>
            </a:avLst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68259" y="929899"/>
            <a:ext cx="380481" cy="380481"/>
          </a:xfrm>
          <a:prstGeom prst="ellipse">
            <a:avLst/>
          </a:prstGeom>
          <a:solidFill>
            <a:srgbClr val="29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5531" y="1047171"/>
            <a:ext cx="145938" cy="145938"/>
          </a:xfrm>
          <a:prstGeom prst="ellipse">
            <a:avLst/>
          </a:prstGeom>
          <a:solidFill>
            <a:srgbClr val="F4F2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4F2ED"/>
                </a:solidFill>
                <a:latin typeface="Arial"/>
              </a:rPr>
              <a:t>Qual o caminho de menor energia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4F9C6A"/>
                </a:solidFill>
                <a:latin typeface="Arial"/>
              </a:rPr>
              <a:t>até a decisão?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O grafo decisório como ativo que se valoriza a cada mandato.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67912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813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Estratégia derivada, não intuída — e auditável de ponta a ponta.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109728" cy="109728"/>
          </a:xfrm>
          <a:prstGeom prst="ellipse">
            <a:avLst/>
          </a:prstGeom>
          <a:solidFill>
            <a:srgbClr val="4F9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79976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FCCC2"/>
                </a:solidFill>
                <a:latin typeface="Arial"/>
              </a:rPr>
              <a:t>Advocacy transparente, pronto para a regulação que vem aí.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10515600" cy="18288"/>
          </a:xfrm>
          <a:prstGeom prst="rect">
            <a:avLst/>
          </a:prstGeom>
          <a:solidFill>
            <a:srgbClr val="33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F4F2ED"/>
                </a:solidFill>
                <a:latin typeface="Arial"/>
              </a:rPr>
              <a:t>Próximo passo: validar escores MACTOR/SMIC deste deck no gate do consultor · PL 2166/2026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8F9188"/>
                </a:solidFill>
                <a:latin typeface="Courier New"/>
              </a:rPr>
              <a:t>pilotis · rig-os — one simple trust / noise.os · eduardo.arcirio@onesimpletrust.pt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